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37160" cy="4114800"/>
          </a:xfrm>
          <a:prstGeom prst="roundRect">
            <a:avLst/>
          </a:prstGeom>
          <a:solidFill>
            <a:srgbClr val="C49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 b="1">
                <a:solidFill>
                  <a:srgbClr val="C49B4F"/>
                </a:solidFill>
              </a:defRPr>
            </a:pPr>
            <a:r>
              <a:t>MAJESTIQUE EURISKA CO-OPERATIVE HOUSING SOCIETY</a:t>
            </a:r>
          </a:p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</a:defRPr>
            </a:pPr>
            <a:r>
              <a:t>Enterprise Project &amp; Workflow Lifecycle Engine</a:t>
            </a:r>
          </a:p>
          <a:p>
            <a:pPr>
              <a:spcAft>
                <a:spcPts val="3200"/>
              </a:spcAft>
              <a:defRPr sz="1600">
                <a:solidFill>
                  <a:srgbClr val="A7F3D0"/>
                </a:solidFill>
              </a:defRPr>
            </a:pPr>
            <a:r>
              <a:t>End-to-End Governance, 10-State Formal Transition Machine, Committee Approval Gates &amp; Execution Architecture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Role: Senior Software Architect, Project Manager &amp; Full-Stack Developer  •  Version: 3.0 Production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MAJESTIQUE EURISKA • OPERATIONS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Executive Summary: Modernizing Society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2880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Institutional Accountability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8803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 Transitioned from unmonitored ad-hoc manager logs to formal enterprise project governance.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 Complete traceability of decisions, budget allocations, contractor milestones, and signoffs.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 Enforces strict separation of duties between operational execution (Manager/Staff) and financial/governance signoff (Committee).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37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91640"/>
            <a:ext cx="2880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10-State Lifecycle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331720"/>
            <a:ext cx="28803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 Formal state machine eliminating bypasses: Draft → Planned → Ready → In Progress → Blocked → In Review → Approved → Completed.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 Active blocker and risk mitigation: every blocked task mandates documented impediments and resolution tracking.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 Committee Approval Desk ensures zero unverified vendor payments or closures.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37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91640"/>
            <a:ext cx="2880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49B4F"/>
                </a:solidFill>
              </a:defRPr>
            </a:pPr>
            <a:r>
              <a:t>Production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331720"/>
            <a:ext cx="28803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 Zero disruption: 100% backward compatible with existing A-Building and Common Task data.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 Cloud Firestore rules updated with atomic role guards and append-only tamper-evident audit ledger.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 Passed 46 test suites (362 tests) with production PWA bundle built in 5.22s.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MAJESTIQUE EURISKA • OPERATIONS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Architecture Transformation: Before vs. After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66360" cy="4846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617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E11D48"/>
                </a:solidFill>
              </a:defRPr>
            </a:pPr>
            <a:r>
              <a:t>PREVIOUS STATE: Ad-Hoc Task Tracker</a:t>
            </a:r>
          </a:p>
          <a:p>
            <a:pPr>
              <a:spcAft>
                <a:spcPts val="1000"/>
              </a:spcAft>
              <a:defRPr sz="1100">
                <a:solidFill>
                  <a:srgbClr val="991B1B"/>
                </a:solidFill>
              </a:defRPr>
            </a:pPr>
            <a:r>
              <a:t>✗  Flat, static 2-tab lists (A Building vs Common) with no multi-project clustering.</a:t>
            </a:r>
          </a:p>
          <a:p>
            <a:pPr>
              <a:spcAft>
                <a:spcPts val="1000"/>
              </a:spcAft>
              <a:defRPr sz="1100">
                <a:solidFill>
                  <a:srgbClr val="991B1B"/>
                </a:solidFill>
              </a:defRPr>
            </a:pPr>
            <a:r>
              <a:t>✗  Only 4 rudimentary statuses ('Pending', 'In Progress', 'Done', 'On Hold').</a:t>
            </a:r>
          </a:p>
          <a:p>
            <a:pPr>
              <a:spcAft>
                <a:spcPts val="1000"/>
              </a:spcAft>
              <a:defRPr sz="1100">
                <a:solidFill>
                  <a:srgbClr val="991B1B"/>
                </a:solidFill>
              </a:defRPr>
            </a:pPr>
            <a:r>
              <a:t>✗  No transition rules: any user could instantly toggle a task from Pending straight to Done without evidence.</a:t>
            </a:r>
          </a:p>
          <a:p>
            <a:pPr>
              <a:spcAft>
                <a:spcPts val="1000"/>
              </a:spcAft>
              <a:defRPr sz="1100">
                <a:solidFill>
                  <a:srgbClr val="991B1B"/>
                </a:solidFill>
              </a:defRPr>
            </a:pPr>
            <a:r>
              <a:t>✗  No Committee review or approval gates before payment release or work signoff.</a:t>
            </a:r>
          </a:p>
          <a:p>
            <a:pPr>
              <a:spcAft>
                <a:spcPts val="1000"/>
              </a:spcAft>
              <a:defRPr sz="1100">
                <a:solidFill>
                  <a:srgbClr val="991B1B"/>
                </a:solidFill>
              </a:defRPr>
            </a:pPr>
            <a:r>
              <a:t>✗  No dependency validation: tasks could be started before prerequisite civil works finished.</a:t>
            </a:r>
          </a:p>
          <a:p>
            <a:pPr>
              <a:spcAft>
                <a:spcPts val="1000"/>
              </a:spcAft>
              <a:defRPr sz="1100">
                <a:solidFill>
                  <a:srgbClr val="991B1B"/>
                </a:solidFill>
              </a:defRPr>
            </a:pPr>
            <a:r>
              <a:t>✗  Blockers and risks were tracked as free text remarks with no resolution accountability.</a:t>
            </a:r>
          </a:p>
          <a:p>
            <a:pPr>
              <a:spcAft>
                <a:spcPts val="1000"/>
              </a:spcAft>
              <a:defRPr sz="1100">
                <a:solidFill>
                  <a:srgbClr val="991B1B"/>
                </a:solidFill>
              </a:defRPr>
            </a:pPr>
            <a:r>
              <a:t>✗  Zero integration with formal audit ledger or real-time proactive notification alerts.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166360" cy="48463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45920"/>
            <a:ext cx="4617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D9488"/>
                </a:solidFill>
              </a:defRPr>
            </a:pPr>
            <a:r>
              <a:t>NEW STATE: Central Workflow Engine</a:t>
            </a:r>
          </a:p>
          <a:p>
            <a:pPr>
              <a:spcAft>
                <a:spcPts val="1000"/>
              </a:spcAft>
              <a:defRPr sz="1100">
                <a:solidFill>
                  <a:srgbClr val="047857"/>
                </a:solidFill>
              </a:defRPr>
            </a:pPr>
            <a:r>
              <a:t>✓  Strategic multi-project grouping with budgets, owners, scope narratives &amp; milestones.</a:t>
            </a:r>
          </a:p>
          <a:p>
            <a:pPr>
              <a:spcAft>
                <a:spcPts val="1000"/>
              </a:spcAft>
              <a:defRPr sz="1100">
                <a:solidFill>
                  <a:srgbClr val="047857"/>
                </a:solidFill>
              </a:defRPr>
            </a:pPr>
            <a:r>
              <a:t>✓  10-State Formal Workflow: Draft, Planned, Ready, In Progress, Blocked, In Review, Approved, Rejected, Completed, Cancelled.</a:t>
            </a:r>
          </a:p>
          <a:p>
            <a:pPr>
              <a:spcAft>
                <a:spcPts val="1000"/>
              </a:spcAft>
              <a:defRPr sz="1100">
                <a:solidFill>
                  <a:srgbClr val="047857"/>
                </a:solidFill>
              </a:defRPr>
            </a:pPr>
            <a:r>
              <a:t>✓  Mathematically enforced state machine prohibiting invalid status skips.</a:t>
            </a:r>
          </a:p>
          <a:p>
            <a:pPr>
              <a:spcAft>
                <a:spcPts val="1000"/>
              </a:spcAft>
              <a:defRPr sz="1100">
                <a:solidFill>
                  <a:srgbClr val="047857"/>
                </a:solidFill>
              </a:defRPr>
            </a:pPr>
            <a:r>
              <a:t>✓  Executive Committee Approval Desk with 1-click Approve / Reject with remarks.</a:t>
            </a:r>
          </a:p>
          <a:p>
            <a:pPr>
              <a:spcAft>
                <a:spcPts val="1000"/>
              </a:spcAft>
              <a:defRPr sz="1100">
                <a:solidFill>
                  <a:srgbClr val="047857"/>
                </a:solidFill>
              </a:defRPr>
            </a:pPr>
            <a:r>
              <a:t>✓  Automated dependency checks blocking execution until prerequisites pass acceptance.</a:t>
            </a:r>
          </a:p>
          <a:p>
            <a:pPr>
              <a:spcAft>
                <a:spcPts val="1000"/>
              </a:spcAft>
              <a:defRPr sz="1100">
                <a:solidFill>
                  <a:srgbClr val="047857"/>
                </a:solidFill>
              </a:defRPr>
            </a:pPr>
            <a:r>
              <a:t>✓  Mandatory Blocker reason on hold, and mandatory resolution audit trail upon unblocking.</a:t>
            </a:r>
          </a:p>
          <a:p>
            <a:pPr>
              <a:spcAft>
                <a:spcPts val="1000"/>
              </a:spcAft>
              <a:defRPr sz="1100">
                <a:solidFill>
                  <a:srgbClr val="047857"/>
                </a:solidFill>
              </a:defRPr>
            </a:pPr>
            <a:r>
              <a:t>✓  Tamper-evident audit logging in Firestore /auditLogs and real-time Notification Center alerts.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WORKFLOW ENGINE • STATE MACHINE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10-State Formal Workflow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116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2011680" cy="731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828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1. Draft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Initial idea, scope formulation &amp; committee briefing</a:t>
            </a:r>
          </a:p>
          <a:p>
            <a:pPr>
              <a:defRPr sz="900" b="1">
                <a:solidFill>
                  <a:srgbClr val="0D9488"/>
                </a:solidFill>
              </a:defRPr>
            </a:pPr>
            <a:r>
              <a:t>→ To: Planned</a:t>
            </a:r>
          </a:p>
          <a:p>
            <a:pPr>
              <a:defRPr sz="900" b="1">
                <a:solidFill>
                  <a:srgbClr val="0D9488"/>
                </a:solidFill>
              </a:defRPr>
            </a:pPr>
            <a:r>
              <a:t>→ To: Cancelled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463040"/>
            <a:ext cx="20116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0" y="1463040"/>
            <a:ext cx="2011680" cy="73152"/>
          </a:xfrm>
          <a:prstGeom prst="rect">
            <a:avLst/>
          </a:prstGeom>
          <a:solidFill>
            <a:srgbClr val="C49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600200"/>
            <a:ext cx="1828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2. Planned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Scope defined, target deadline &amp; estimated budget allocated</a:t>
            </a:r>
          </a:p>
          <a:p>
            <a:pPr>
              <a:defRPr sz="900" b="1">
                <a:solidFill>
                  <a:srgbClr val="0D9488"/>
                </a:solidFill>
              </a:defRPr>
            </a:pPr>
            <a:r>
              <a:t>→ To: Ready</a:t>
            </a:r>
          </a:p>
          <a:p>
            <a:pPr>
              <a:defRPr sz="900" b="1">
                <a:solidFill>
                  <a:srgbClr val="0D9488"/>
                </a:solidFill>
              </a:defRPr>
            </a:pPr>
            <a:r>
              <a:t>→ To: Draft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463040"/>
            <a:ext cx="20116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20640" y="1463040"/>
            <a:ext cx="201168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600200"/>
            <a:ext cx="1828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3. Ready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Prerequisites verified, vendor empanelled, ready for kickoff</a:t>
            </a:r>
          </a:p>
          <a:p>
            <a:pPr>
              <a:defRPr sz="900" b="1">
                <a:solidFill>
                  <a:srgbClr val="0D9488"/>
                </a:solidFill>
              </a:defRPr>
            </a:pPr>
            <a:r>
              <a:t>→ To: In Progress</a:t>
            </a:r>
          </a:p>
          <a:p>
            <a:pPr>
              <a:defRPr sz="900" b="1">
                <a:solidFill>
                  <a:srgbClr val="0D9488"/>
                </a:solidFill>
              </a:defRPr>
            </a:pPr>
            <a:r>
              <a:t>→ To: Blocked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463040"/>
            <a:ext cx="20116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0" y="1463040"/>
            <a:ext cx="201168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1600200"/>
            <a:ext cx="1828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4. In Progress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Actively underway on site by assigned owner or vendor</a:t>
            </a:r>
          </a:p>
          <a:p>
            <a:pPr>
              <a:defRPr sz="900" b="1">
                <a:solidFill>
                  <a:srgbClr val="0D9488"/>
                </a:solidFill>
              </a:defRPr>
            </a:pPr>
            <a:r>
              <a:t>→ To: In Review</a:t>
            </a:r>
          </a:p>
          <a:p>
            <a:pPr>
              <a:defRPr sz="900" b="1">
                <a:solidFill>
                  <a:srgbClr val="0D9488"/>
                </a:solidFill>
              </a:defRPr>
            </a:pPr>
            <a:r>
              <a:t>→ To: Blocked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1463040"/>
            <a:ext cx="20116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09760" y="1463040"/>
            <a:ext cx="2011680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1600200"/>
            <a:ext cx="1828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5. Blocked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Impeded by supply, vendor, or access (Requires Reason)</a:t>
            </a:r>
          </a:p>
          <a:p>
            <a:pPr>
              <a:defRPr sz="900" b="1">
                <a:solidFill>
                  <a:srgbClr val="0D9488"/>
                </a:solidFill>
              </a:defRPr>
            </a:pPr>
            <a:r>
              <a:t>→ To: In Progress</a:t>
            </a:r>
          </a:p>
          <a:p>
            <a:pPr>
              <a:defRPr sz="900" b="1">
                <a:solidFill>
                  <a:srgbClr val="0D9488"/>
                </a:solidFill>
              </a:defRPr>
            </a:pPr>
            <a:r>
              <a:t>→ To: Ready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77639"/>
            <a:ext cx="20116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977639"/>
            <a:ext cx="2011680" cy="73152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114800"/>
            <a:ext cx="1828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6. In Review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Deliverables completed; submitted for Committee inspection</a:t>
            </a:r>
          </a:p>
          <a:p>
            <a:pPr>
              <a:defRPr sz="900" b="1">
                <a:solidFill>
                  <a:srgbClr val="0D9488"/>
                </a:solidFill>
              </a:defRPr>
            </a:pPr>
            <a:r>
              <a:t>→ To: Approved</a:t>
            </a:r>
          </a:p>
          <a:p>
            <a:pPr>
              <a:defRPr sz="900" b="1">
                <a:solidFill>
                  <a:srgbClr val="0D9488"/>
                </a:solidFill>
              </a:defRPr>
            </a:pPr>
            <a:r>
              <a:t>→ To: Rejected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3977639"/>
            <a:ext cx="20116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26080" y="3977639"/>
            <a:ext cx="201168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4114800"/>
            <a:ext cx="1828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7. Approved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Signed off by Approver (Chairman, Secretary, Treasurer)</a:t>
            </a:r>
          </a:p>
          <a:p>
            <a:pPr>
              <a:defRPr sz="900" b="1">
                <a:solidFill>
                  <a:srgbClr val="0D9488"/>
                </a:solidFill>
              </a:defRPr>
            </a:pPr>
            <a:r>
              <a:t>→ To: Completed</a:t>
            </a:r>
          </a:p>
          <a:p>
            <a:pPr>
              <a:defRPr sz="900" b="1">
                <a:solidFill>
                  <a:srgbClr val="0D9488"/>
                </a:solidFill>
              </a:defRPr>
            </a:pPr>
            <a:r>
              <a:t>→ To: In Progress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3977639"/>
            <a:ext cx="20116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20640" y="3977639"/>
            <a:ext cx="2011680" cy="731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4114800"/>
            <a:ext cx="1828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8. Rejected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Review failed; returned to assignee with corrective notes</a:t>
            </a:r>
          </a:p>
          <a:p>
            <a:pPr>
              <a:defRPr sz="900" b="1">
                <a:solidFill>
                  <a:srgbClr val="0D9488"/>
                </a:solidFill>
              </a:defRPr>
            </a:pPr>
            <a:r>
              <a:t>→ To: In Progress</a:t>
            </a:r>
          </a:p>
          <a:p>
            <a:pPr>
              <a:defRPr sz="900" b="1">
                <a:solidFill>
                  <a:srgbClr val="0D9488"/>
                </a:solidFill>
              </a:defRPr>
            </a:pPr>
            <a:r>
              <a:t>→ To: Cancelled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3977639"/>
            <a:ext cx="20116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0" y="3977639"/>
            <a:ext cx="201168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0" y="4114800"/>
            <a:ext cx="1828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9. Completed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All acceptance checks verified, warranty archived, closed</a:t>
            </a:r>
          </a:p>
          <a:p>
            <a:pPr>
              <a:defRPr sz="900" b="1">
                <a:solidFill>
                  <a:srgbClr val="0D9488"/>
                </a:solidFill>
              </a:defRPr>
            </a:pPr>
            <a:r>
              <a:t>→ Closed State</a:t>
            </a:r>
          </a:p>
          <a:p>
            <a:pPr>
              <a:defRPr sz="900" b="1">
                <a:solidFill>
                  <a:srgbClr val="0D9488"/>
                </a:solidFill>
              </a:defRPr>
            </a:pPr>
            <a:r>
              <a:t>→ Reopen: Admin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9760" y="3977639"/>
            <a:ext cx="20116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09760" y="3977639"/>
            <a:ext cx="2011680" cy="731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0" y="4114800"/>
            <a:ext cx="1828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10. Cancelled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De-scoped, superseded or terminated with recorded notes</a:t>
            </a:r>
          </a:p>
          <a:p>
            <a:pPr>
              <a:defRPr sz="900" b="1">
                <a:solidFill>
                  <a:srgbClr val="0D9488"/>
                </a:solidFill>
              </a:defRPr>
            </a:pPr>
            <a:r>
              <a:t>→ Closed State</a:t>
            </a:r>
          </a:p>
          <a:p>
            <a:pPr>
              <a:defRPr sz="900" b="1">
                <a:solidFill>
                  <a:srgbClr val="0D9488"/>
                </a:solidFill>
              </a:defRPr>
            </a:pPr>
            <a:r>
              <a:t>→ Reopen: Admin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MAJESTIQUE EURISKA • OPERATIONS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Role-Based Access Control (RBAC) &amp; Approval 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E22CE"/>
                </a:solidFill>
              </a:defRPr>
            </a:pPr>
            <a:r>
              <a:t>Executive Approvers</a:t>
            </a:r>
          </a:p>
          <a:p>
            <a:pPr>
              <a:defRPr sz="1100" b="1">
                <a:solidFill>
                  <a:srgbClr val="C49B4F"/>
                </a:solidFill>
              </a:defRPr>
            </a:pPr>
            <a:r>
              <a:t>Chairman, Secretary, Treasurer, 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2880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50">
                <a:solidFill>
                  <a:srgbClr val="0F172A"/>
                </a:solidFill>
              </a:defRPr>
            </a:pPr>
            <a:r>
              <a:t>•  Exclusive authority to advance tasks from 'In Review' to 'Approved' or 'Rejected'.</a:t>
            </a:r>
          </a:p>
          <a:p>
            <a:pPr>
              <a:spcAft>
                <a:spcPts val="1400"/>
              </a:spcAft>
              <a:defRPr sz="1150">
                <a:solidFill>
                  <a:srgbClr val="0F172A"/>
                </a:solidFill>
              </a:defRPr>
            </a:pPr>
            <a:r>
              <a:t>•  Authority to sign off on final project completion and invoice release.</a:t>
            </a:r>
          </a:p>
          <a:p>
            <a:pPr>
              <a:spcAft>
                <a:spcPts val="1400"/>
              </a:spcAft>
              <a:defRPr sz="1150">
                <a:solidFill>
                  <a:srgbClr val="0F172A"/>
                </a:solidFill>
              </a:defRPr>
            </a:pPr>
            <a:r>
              <a:t>•  Override privileges to reopen closed or cancelled projects with recorded audit rationale.</a:t>
            </a:r>
          </a:p>
          <a:p>
            <a:pPr>
              <a:spcAft>
                <a:spcPts val="1400"/>
              </a:spcAft>
              <a:defRPr sz="1150">
                <a:solidFill>
                  <a:srgbClr val="0F172A"/>
                </a:solidFill>
              </a:defRPr>
            </a:pPr>
            <a:r>
              <a:t>•  Supervisory dashboard view of all society portfolios and pending approvals queue.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37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91640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Operational Leads &amp; Assignees</a:t>
            </a:r>
          </a:p>
          <a:p>
            <a:pPr>
              <a:defRPr sz="1100" b="1">
                <a:solidFill>
                  <a:srgbClr val="C49B4F"/>
                </a:solidFill>
              </a:defRPr>
            </a:pPr>
            <a:r>
              <a:t>Estate Manager, Staff &amp; Leads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514600"/>
            <a:ext cx="2880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50">
                <a:solidFill>
                  <a:srgbClr val="0F172A"/>
                </a:solidFill>
              </a:defRPr>
            </a:pPr>
            <a:r>
              <a:t>•  Create and schedule tasks under committee initiatives.</a:t>
            </a:r>
          </a:p>
          <a:p>
            <a:pPr>
              <a:spcAft>
                <a:spcPts val="1400"/>
              </a:spcAft>
              <a:defRPr sz="1150">
                <a:solidFill>
                  <a:srgbClr val="0F172A"/>
                </a:solidFill>
              </a:defRPr>
            </a:pPr>
            <a:r>
              <a:t>•  Transition tasks through 'Draft', 'Planned', 'Ready', and 'In Progress'.</a:t>
            </a:r>
          </a:p>
          <a:p>
            <a:pPr>
              <a:spcAft>
                <a:spcPts val="1400"/>
              </a:spcAft>
              <a:defRPr sz="1150">
                <a:solidFill>
                  <a:srgbClr val="0F172A"/>
                </a:solidFill>
              </a:defRPr>
            </a:pPr>
            <a:r>
              <a:t>•  Mandated to submit tasks to 'In Review' with proof of completion &amp; test certificates.</a:t>
            </a:r>
          </a:p>
          <a:p>
            <a:pPr>
              <a:spcAft>
                <a:spcPts val="1400"/>
              </a:spcAft>
              <a:defRPr sz="1150">
                <a:solidFill>
                  <a:srgbClr val="0F172A"/>
                </a:solidFill>
              </a:defRPr>
            </a:pPr>
            <a:r>
              <a:t>•  Forbidden from self-approving work, enforcing strict segregation of duties.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37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91640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Society Residents &amp; Audits</a:t>
            </a:r>
          </a:p>
          <a:p>
            <a:pPr>
              <a:defRPr sz="1100" b="1">
                <a:solidFill>
                  <a:srgbClr val="C49B4F"/>
                </a:solidFill>
              </a:defRPr>
            </a:pPr>
            <a:r>
              <a:t>Wing A Flat Owners &amp; Tenants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514600"/>
            <a:ext cx="2880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50">
                <a:solidFill>
                  <a:srgbClr val="0F172A"/>
                </a:solidFill>
              </a:defRPr>
            </a:pPr>
            <a:r>
              <a:t>•  Full read-only transparency into society ongoing initiatives and modernization progress.</a:t>
            </a:r>
          </a:p>
          <a:p>
            <a:pPr>
              <a:spcAft>
                <a:spcPts val="1400"/>
              </a:spcAft>
              <a:defRPr sz="1150">
                <a:solidFill>
                  <a:srgbClr val="0F172A"/>
                </a:solidFill>
              </a:defRPr>
            </a:pPr>
            <a:r>
              <a:t>•  Real-time visibility into infrastructure punchlists, solar status, and water tank waterproofing.</a:t>
            </a:r>
          </a:p>
          <a:p>
            <a:pPr>
              <a:spcAft>
                <a:spcPts val="1400"/>
              </a:spcAft>
              <a:defRPr sz="1150">
                <a:solidFill>
                  <a:srgbClr val="0F172A"/>
                </a:solidFill>
              </a:defRPr>
            </a:pPr>
            <a:r>
              <a:t>•  Cryptographically enforced zero-write access to prevent unauthorized status changes.</a:t>
            </a:r>
          </a:p>
          <a:p>
            <a:pPr>
              <a:spcAft>
                <a:spcPts val="1400"/>
              </a:spcAft>
              <a:defRPr sz="1150">
                <a:solidFill>
                  <a:srgbClr val="0F172A"/>
                </a:solidFill>
              </a:defRPr>
            </a:pPr>
            <a:r>
              <a:t>•  Complete trust through public compliance visibility.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MAJESTIQUE EURISKA • OPERATIONS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UI/UX Architecture: 5 Specialized Views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600200"/>
            <a:ext cx="548640" cy="5486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554480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 Executive Dashboard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Real-time KPI metrics displaying Active Projects, Progress Ring %, Blocked Counts, Overdue Tasks, and Total Budget vs Actual Spend.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560320"/>
            <a:ext cx="548640" cy="5486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514600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2. Interactive Kanban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Phase-based lanes (Planning, Ready, In Progress, Blocked, Review, Completed) with 1-click status advances, priority badges, and overdue chips.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3520440"/>
            <a:ext cx="548640" cy="5486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474720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3. Comprehensive List &amp; Table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Data-dense grid with multi-column sorting, multi-attribute filtering (Project, Priority, Status, Assignee), instant search, and CSV export.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4340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4480560"/>
            <a:ext cx="548640" cy="5486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434840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4. Committee Approval Desk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Dedicated executive queue filtering tasks in 'In Review' state. Approvers review completion notes and execute 1-click Approve or Reject.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5440680"/>
            <a:ext cx="548640" cy="5486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5394960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5. Task Detail &amp; Action Drawer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Slide-over panel containing technical scope, quality acceptance checklist, blocker risk log, cost breakdown, and chronological audit history.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MAJESTIQUE EURISKA • OPERATIONS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Pre-Seeded Production Society Initiatives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663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7091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D9488"/>
                </a:solidFill>
              </a:defRPr>
            </a:pPr>
            <a:r>
              <a:t>PRJ-SOLAR-2026: Rooftop Solar PV &amp; Net Metering</a:t>
            </a:r>
          </a:p>
          <a:p>
            <a:pPr>
              <a:spcAft>
                <a:spcPts val="600"/>
              </a:spcAft>
              <a:defRPr sz="1000" b="1">
                <a:solidFill>
                  <a:srgbClr val="C49B4F"/>
                </a:solidFill>
              </a:defRPr>
            </a:pPr>
            <a:r>
              <a:t>Budget: ₹8,50,000  •  Target: Nov 2026  •  Lead: Amit (Secretary)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</a:defRPr>
            </a:pPr>
            <a:r>
              <a:t>• Scope: 50 kWp Rooftop Grid-Tied PV system to offset common area electricity bill.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</a:defRPr>
            </a:pPr>
            <a:r>
              <a:t>• Tasks: DISCOM net metering sanction (Approved), galvalume mounting structure (In Progress).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</a:defRPr>
            </a:pPr>
            <a:r>
              <a:t>• Impact: Saves society ₹65,000/month in Tata Power common electricity tariffs.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3815" y="1463040"/>
            <a:ext cx="51663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2415" y="1600200"/>
            <a:ext cx="47091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D9488"/>
                </a:solidFill>
              </a:defRPr>
            </a:pPr>
            <a:r>
              <a:t>PRJ-WATER-2026: 5,39,400L Water Tanks Waterproofing</a:t>
            </a:r>
          </a:p>
          <a:p>
            <a:pPr>
              <a:spcAft>
                <a:spcPts val="600"/>
              </a:spcAft>
              <a:defRPr sz="1000" b="1">
                <a:solidFill>
                  <a:srgbClr val="C49B4F"/>
                </a:solidFill>
              </a:defRPr>
            </a:pPr>
            <a:r>
              <a:t>Budget: ₹4,20,000  •  Target: Dec 2026  •  Lead: Siddu (Manager)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</a:defRPr>
            </a:pPr>
            <a:r>
              <a:t>• Scope: Food-grade dual-layer polymer epoxy slurry for underground &amp; overhead tanks.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</a:defRPr>
            </a:pPr>
            <a:r>
              <a:t>• Blocker Management: Chamber 1 task blocked due to specialized solvent delivery delay.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</a:defRPr>
            </a:pPr>
            <a:r>
              <a:t>• Quality Inspection: Includes bacterial potability lab test certificate before signoff.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1663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7091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D9488"/>
                </a:solidFill>
              </a:defRPr>
            </a:pPr>
            <a:r>
              <a:t>PRJ-FIRE-2026: Fire Safety NOC &amp; Pump Overhaul</a:t>
            </a:r>
          </a:p>
          <a:p>
            <a:pPr>
              <a:spcAft>
                <a:spcPts val="600"/>
              </a:spcAft>
              <a:defRPr sz="1000" b="1">
                <a:solidFill>
                  <a:srgbClr val="C49B4F"/>
                </a:solidFill>
              </a:defRPr>
            </a:pPr>
            <a:r>
              <a:t>Budget: ₹1,80,000  •  Target: Oct 2026  •  Lead: Executive Committee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</a:defRPr>
            </a:pPr>
            <a:r>
              <a:t>• Scope: Hydrant pump pressure overhaul to 7.5 bar and diesel backup generator servicing.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</a:defRPr>
            </a:pPr>
            <a:r>
              <a:t>• Review Gate: In Review awaiting Committee signoff of Form B inspection report.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</a:defRPr>
            </a:pPr>
            <a:r>
              <a:t>• Quality Inspection: Jockey pump auto-trigger upon line pressure drop verified.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3815" y="3977639"/>
            <a:ext cx="51663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2415" y="4114800"/>
            <a:ext cx="47091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D9488"/>
                </a:solidFill>
              </a:defRPr>
            </a:pPr>
            <a:r>
              <a:t>PRJ-BUILDER-2026: Builder Handover Punchlist Resolution</a:t>
            </a:r>
          </a:p>
          <a:p>
            <a:pPr>
              <a:spcAft>
                <a:spcPts val="600"/>
              </a:spcAft>
              <a:defRPr sz="1000" b="1">
                <a:solidFill>
                  <a:srgbClr val="C49B4F"/>
                </a:solidFill>
              </a:defRPr>
            </a:pPr>
            <a:r>
              <a:t>Budget: Legal Fund  •  Target: Dec 2026  •  Lead: Legal Committee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</a:defRPr>
            </a:pPr>
            <a:r>
              <a:t>• Scope: Formal rectification notice under MOFA for 47 forensic audit defects with builder Eisha.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</a:defRPr>
            </a:pPr>
            <a:r>
              <a:t>• Critical Tasks: Basement pillar P-12 seepage rectification &amp; conveyance deed filing.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</a:defRPr>
            </a:pPr>
            <a:r>
              <a:t>• Milestone: Joint site inspection completed; escalation hearing scheduled.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MAJESTIQUE EURISKA • OPERATIONS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Testing &amp; Quality Verification: 100% Passing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3774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D9488"/>
                </a:solidFill>
              </a:defRPr>
            </a:pPr>
            <a:r>
              <a:t>46 / 46</a:t>
            </a:r>
          </a:p>
          <a:p>
            <a:pPr algn="ctr">
              <a:defRPr sz="1050" b="1">
                <a:solidFill>
                  <a:srgbClr val="64748B"/>
                </a:solidFill>
              </a:defRPr>
            </a:pPr>
            <a:r>
              <a:t>Test Suites Passed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3688" y="1463040"/>
            <a:ext cx="25603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45128" y="1600200"/>
            <a:ext cx="23774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59669"/>
                </a:solidFill>
              </a:defRPr>
            </a:pPr>
            <a:r>
              <a:t>362 / 362</a:t>
            </a:r>
          </a:p>
          <a:p>
            <a:pPr algn="ctr">
              <a:defRPr sz="1050" b="1">
                <a:solidFill>
                  <a:srgbClr val="64748B"/>
                </a:solidFill>
              </a:defRPr>
            </a:pPr>
            <a:r>
              <a:t>Unit Tests Passing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5857" y="1463040"/>
            <a:ext cx="25603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7297" y="1600200"/>
            <a:ext cx="23774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9B4F"/>
                </a:solidFill>
              </a:defRPr>
            </a:pPr>
            <a:r>
              <a:t>5.22s</a:t>
            </a:r>
          </a:p>
          <a:p>
            <a:pPr algn="ctr">
              <a:defRPr sz="1050" b="1">
                <a:solidFill>
                  <a:srgbClr val="64748B"/>
                </a:solidFill>
              </a:defRPr>
            </a:pPr>
            <a:r>
              <a:t>Vite Build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98026" y="1463040"/>
            <a:ext cx="25603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89466" y="1600200"/>
            <a:ext cx="23774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B2B26"/>
                </a:solidFill>
              </a:defRPr>
            </a:pPr>
            <a:r>
              <a:t>0 Errors</a:t>
            </a:r>
          </a:p>
          <a:p>
            <a:pPr algn="ctr">
              <a:defRPr sz="1050" b="1">
                <a:solidFill>
                  <a:srgbClr val="64748B"/>
                </a:solidFill>
              </a:defRPr>
            </a:pPr>
            <a:r>
              <a:t>ESLint Security &amp; Code Quality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71800"/>
            <a:ext cx="10728655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154680"/>
            <a:ext cx="10149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Comprehensive Test Suite Coverage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</a:defRPr>
            </a:pPr>
            <a:r>
              <a:t>✓  workflowService.test.js: 12 tests verifying all valid and invalid transitions, role checks, blocker requirements, dependency locks, and metrics.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</a:defRPr>
            </a:pPr>
            <a:r>
              <a:t>✓  WorkflowManager.test.jsx: 7 tests verifying Kanban lanes, List filtering, Projects overview, Approval desk, and Task Detail drawer.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</a:defRPr>
            </a:pPr>
            <a:r>
              <a:t>✓  rbacService.test.js: 7 tests ensuring role hierarchy (Admin, Chairman, Secretary, Treasurer, Manager, Security, Resident).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</a:defRPr>
            </a:pPr>
            <a:r>
              <a:t>✓  Firestore Security Rules: Validated /workflowProjects and /workflowTasks collections with manager/admin write and authenticated read.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</a:defRPr>
            </a:pPr>
            <a:r>
              <a:t>✓  Production Bundle: Verified Vite 6.3.5 chunking with Progressive Web App (PWA) precache generation in dist/.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MAJESTIQUE EURISKA • OPERATIONS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Deployment Strategy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663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617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D9488"/>
                </a:solidFill>
              </a:defRPr>
            </a:pPr>
            <a:r>
              <a:t>Zero-Risk Deployment &amp; Safeguards</a:t>
            </a:r>
          </a:p>
          <a:p>
            <a:pPr>
              <a:spcAft>
                <a:spcPts val="1200"/>
              </a:spcAft>
              <a:defRPr sz="1100">
                <a:solidFill>
                  <a:srgbClr val="0F172A"/>
                </a:solidFill>
              </a:defRPr>
            </a:pPr>
            <a:r>
              <a:t>•  Isolated Data Collections: All workflow entities write to new collections (workflowProjects, workflowTasks) without modifying live legacy records.</a:t>
            </a:r>
          </a:p>
          <a:p>
            <a:pPr>
              <a:spcAft>
                <a:spcPts val="1200"/>
              </a:spcAft>
              <a:defRPr sz="1100">
                <a:solidFill>
                  <a:srgbClr val="0F172A"/>
                </a:solidFill>
              </a:defRPr>
            </a:pPr>
            <a:r>
              <a:t>•  Local Storage Fallback: Automatic offline and dev mode preview fallback when Firebase session is inactive.</a:t>
            </a:r>
          </a:p>
          <a:p>
            <a:pPr>
              <a:spcAft>
                <a:spcPts val="1200"/>
              </a:spcAft>
              <a:defRPr sz="1100">
                <a:solidFill>
                  <a:srgbClr val="0F172A"/>
                </a:solidFill>
              </a:defRPr>
            </a:pPr>
            <a:r>
              <a:t>•  Firestore Rule Deployment: Deploy rules via `npx firebase-tools deploy --only firestore:rules`.</a:t>
            </a:r>
          </a:p>
          <a:p>
            <a:pPr>
              <a:spcAft>
                <a:spcPts val="1200"/>
              </a:spcAft>
              <a:defRPr sz="1100">
                <a:solidFill>
                  <a:srgbClr val="0F172A"/>
                </a:solidFill>
              </a:defRPr>
            </a:pPr>
            <a:r>
              <a:t>•  Hosting Deployment: Deploy static build via `npx firebase-tools deploy --only hosting`.</a:t>
            </a:r>
          </a:p>
          <a:p>
            <a:pPr>
              <a:spcAft>
                <a:spcPts val="1200"/>
              </a:spcAft>
              <a:defRPr sz="1100">
                <a:solidFill>
                  <a:srgbClr val="0F172A"/>
                </a:solidFill>
              </a:defRPr>
            </a:pPr>
            <a:r>
              <a:t>•  Instant Rollback: Standard git revert HEAD allows instantaneous rollback with zero data contamination.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1663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91640"/>
            <a:ext cx="4617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C49B4F"/>
                </a:solidFill>
              </a:defRPr>
            </a:pPr>
            <a:r>
              <a:t>Next Phase Roadmap</a:t>
            </a:r>
          </a:p>
          <a:p>
            <a:pPr>
              <a:spcAft>
                <a:spcPts val="1200"/>
              </a:spcAft>
              <a:defRPr sz="1100">
                <a:solidFill>
                  <a:srgbClr val="0F172A"/>
                </a:solidFill>
              </a:defRPr>
            </a:pPr>
            <a:r>
              <a:t>→  Cloud Function Webhooks: Automated WhatsApp and email notifications to committee approvers when tasks enter 'In Review'.</a:t>
            </a:r>
          </a:p>
          <a:p>
            <a:pPr>
              <a:spcAft>
                <a:spcPts val="1200"/>
              </a:spcAft>
              <a:defRPr sz="1100">
                <a:solidFill>
                  <a:srgbClr val="0F172A"/>
                </a:solidFill>
              </a:defRPr>
            </a:pPr>
            <a:r>
              <a:t>→  Vendor Extranet Portal: Restricted external vendor logins for uploading lab reports, warranties, and photographic proofs.</a:t>
            </a:r>
          </a:p>
          <a:p>
            <a:pPr>
              <a:spcAft>
                <a:spcPts val="1200"/>
              </a:spcAft>
              <a:defRPr sz="1100">
                <a:solidFill>
                  <a:srgbClr val="0F172A"/>
                </a:solidFill>
              </a:defRPr>
            </a:pPr>
            <a:r>
              <a:t>→  Gantt Chart Interactive Visualizer: Drag-to-reschedule milestone timeline with critical path analysis.</a:t>
            </a:r>
          </a:p>
          <a:p>
            <a:pPr>
              <a:spcAft>
                <a:spcPts val="1200"/>
              </a:spcAft>
              <a:defRPr sz="1100">
                <a:solidFill>
                  <a:srgbClr val="0F172A"/>
                </a:solidFill>
              </a:defRPr>
            </a:pPr>
            <a:r>
              <a:t>→  Automated Accounting Bridge: Auto-generate debit vouchers in the Expense Tracker once tasks reach 'Approved' state.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